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B7B51-8B73-6F78-7857-9B241EFE5E7B}" v="12" dt="2026-08-25T06:06:06.797"/>
    <p1510:client id="{E9659D45-301B-9478-0BDC-D5FA81D90F0D}" v="104" dt="2026-08-24T17:24:06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F9957-EBD8-467C-9091-571170B7085A}" type="datetimeFigureOut"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A2A54-3347-4EEB-9FE2-2F03CF545F1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C376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2C3768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agent that turns career goals, current skills, and LMS history into a sequenced, time-boxed course plan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8595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960120" y="3127248"/>
            <a:ext cx="8001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training provider offers hundreds of courses across SAP, Workday, Salesforce, Cloud, AI, and Cybersecurity tracks. Learners rarely know which sequence fits their goals, current skill level, and already-completed work — and a static catalog can't hold a conversation, remember what was said three turns ago, or replan when a new constraint shows up.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flow, from a learner's first message to a refined, time-boxed path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Goals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update goals, background, time availability, and constraints from the message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794760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4050792" y="141732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279392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4919472" y="16733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Course Content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4279392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lookup over course + prerequisite text via FAISS and sentence embeddings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7296912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7552944" y="141732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81544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81544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8421624" y="16733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LMS History</a:t>
            </a:r>
            <a:endParaRPr lang="en-US" sz="1450"/>
          </a:p>
        </p:txBody>
      </p:sp>
      <p:sp>
        <p:nvSpPr>
          <p:cNvPr id="20" name="Text 18"/>
          <p:cNvSpPr/>
          <p:nvPr/>
        </p:nvSpPr>
        <p:spPr>
          <a:xfrm>
            <a:off x="7781544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SQLite for the learner's completed and currently enrolled courses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417320" y="36850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Path</a:t>
            </a:r>
            <a:endParaRPr lang="en-US" sz="1450"/>
          </a:p>
        </p:txBody>
      </p:sp>
      <p:sp>
        <p:nvSpPr>
          <p:cNvPr id="25" name="Text 23"/>
          <p:cNvSpPr/>
          <p:nvPr/>
        </p:nvSpPr>
        <p:spPr>
          <a:xfrm>
            <a:off x="777240" y="42976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RAG content + LMS history + all accumulated constraints; topologically sort by prerequisite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3794760" y="4069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7" name="Shape 25"/>
          <p:cNvSpPr/>
          <p:nvPr/>
        </p:nvSpPr>
        <p:spPr>
          <a:xfrm>
            <a:off x="4050792" y="342900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9392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279392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4919472" y="36850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Save</a:t>
            </a:r>
            <a:endParaRPr lang="en-US" sz="1450"/>
          </a:p>
        </p:txBody>
      </p:sp>
      <p:sp>
        <p:nvSpPr>
          <p:cNvPr id="31" name="Text 29"/>
          <p:cNvSpPr/>
          <p:nvPr/>
        </p:nvSpPr>
        <p:spPr>
          <a:xfrm>
            <a:off x="4279392" y="42976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sequenced, time-boxed path to the frontend and persist it in session state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7296912" y="4069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33" name="Shape 31"/>
          <p:cNvSpPr/>
          <p:nvPr/>
        </p:nvSpPr>
        <p:spPr>
          <a:xfrm>
            <a:off x="7552944" y="342900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81544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7781544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/>
          </a:p>
        </p:txBody>
      </p:sp>
      <p:sp>
        <p:nvSpPr>
          <p:cNvPr id="36" name="Text 34"/>
          <p:cNvSpPr/>
          <p:nvPr/>
        </p:nvSpPr>
        <p:spPr>
          <a:xfrm>
            <a:off x="8421624" y="36850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on Follow-up</a:t>
            </a:r>
            <a:endParaRPr lang="en-US" sz="1450"/>
          </a:p>
        </p:txBody>
      </p:sp>
      <p:sp>
        <p:nvSpPr>
          <p:cNvPr id="37" name="Text 35"/>
          <p:cNvSpPr/>
          <p:nvPr/>
        </p:nvSpPr>
        <p:spPr>
          <a:xfrm>
            <a:off x="7781544" y="42976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constraint routes straight back into composition — nothing earlier is lost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sources are fetched in parallel and converge before the path is composed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840480" y="18288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57984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intake_node   </a:t>
            </a:r>
            <a:r>
              <a:rPr lang="en-US" sz="115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extracts/updates goals, background, time availability, and the running constraint list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3840480" y="26517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6265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rag_node
</a:t>
            </a:r>
            <a:r>
              <a:rPr lang="en-US" sz="105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SentenceTransformers → retrieves course &amp; prerequisite content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4160520" y="2907792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962656"/>
            <a:ext cx="29718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err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lms_agent_node</a:t>
            </a:r>
            <a:r>
              <a:rPr lang="en-US" sz="11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
</a:t>
            </a:r>
            <a:r>
              <a:rPr lang="en-US" sz="105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Queries SQLite for completed &amp; enrolled courses for this learner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3840480" y="37764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694944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05656"/>
            <a:ext cx="6492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composition_node   </a:t>
            </a:r>
            <a:r>
              <a:rPr lang="en-US" sz="11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RAG content + LMS history + ALL accumulated constraints into a sequenced, time-boxed path (topological sort)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840480" y="47183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4748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response → chat + timeline frontend, saved to session state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818120" y="1371600"/>
            <a:ext cx="3916375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554480"/>
            <a:ext cx="3459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REFINEMENT TURN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8046720" y="1874520"/>
            <a:ext cx="345917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skips intake’s parallel fetch entirely. A new constraint routes directly back into composition_node, reusing the stored RAG context and LMS history alongside every earlier constraint — so nothing stated in turn 1 is forgotten by turn 4.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8046720" y="3429000"/>
            <a:ext cx="3459175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611880"/>
            <a:ext cx="34591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composition</a:t>
            </a:r>
            <a:endParaRPr lang="en-US" sz="110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(bypasses rag &amp; lms_tool)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Refinement: Compose, Then Accumulate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follow-up turn routes back into composition_node — no earlier constraint is ever dropped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66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turn — full pipeline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rag_node + lms_tool_node (parallel) → composition_node produces the initial sequenced path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715000" y="18973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5166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6949440" y="161848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after — direct reroute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constraint goes straight to composition_node, reusing stored RAG context, LMS history, and every prior constraint in state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Prerequisite-aware &amp; constraint-aware:  </a:t>
            </a:r>
            <a:r>
              <a:rPr lang="en-US" sz="11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composition_node topologically sorts by prerequisite and marks a superseded constraint explicitly (superseded: true) rather than silently discarding it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0698480" cy="2606040"/>
          </a:xfrm>
          <a:prstGeom prst="roundRect">
            <a:avLst>
              <a:gd name="adj" fmla="val 2456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044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FROM ACTUAL TEST RUN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822960" y="427024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 (Goal):  </a:t>
            </a: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“Wants Salesforce admin” → agent recommends a 6-course path starting with foundational SF-101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822960" y="477316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 (Constraint):  </a:t>
            </a: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prior experience” → path keeps the foundational start; constraint stored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822960" y="527608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 (New constraint):  </a:t>
            </a: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“Only 5 hours/week” → timeline recalculates across more weeks, while retaining the Turn 2 constraint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822960" y="577900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4 (Revision):  </a:t>
            </a: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“Actually I have Salesforce basics” → Turn 2 constraint marked superseded: true; active constraints and recommendations update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Why We Chose It</a:t>
            </a:r>
            <a:endParaRPr lang="en-US" sz="24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875332"/>
              </p:ext>
            </p:extLst>
          </p:nvPr>
        </p:nvGraphicFramePr>
        <p:xfrm>
          <a:off x="504701" y="959922"/>
          <a:ext cx="11103014" cy="5394960"/>
        </p:xfrm>
        <a:graphic>
          <a:graphicData uri="http://schemas.openxmlformats.org/drawingml/2006/table">
            <a:tbl>
              <a:tblPr/>
              <a:tblGrid>
                <a:gridCol w="241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430"/>
                          </a:solidFill>
                        </a:rPr>
                        <a:t>Agent orchestration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LangGraph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Manages the AI workflow, connects all steps, and maintains context during follow-up conversations.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430"/>
                          </a:solidFill>
                        </a:rPr>
                        <a:t>Vector search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FAISS + sentence-transformers (all-MiniLM-L6-v2)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Helps with semantic search, fast, fully local, no API cost for embedding course content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430"/>
                          </a:solidFill>
                        </a:rPr>
                        <a:t>Database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SQLite + </a:t>
                      </a:r>
                      <a:r>
                        <a:rPr lang="en-US" sz="1100" err="1">
                          <a:solidFill>
                            <a:srgbClr val="1B2430"/>
                          </a:solidFill>
                        </a:rPr>
                        <a:t>SQLAlchemy</a:t>
                      </a: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 ORM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Lightweight LMS store for enrollment/completion history — easy to seed and reset for repeatable testing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430"/>
                          </a:solidFill>
                        </a:rPr>
                        <a:t>API framework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err="1">
                          <a:solidFill>
                            <a:srgbClr val="1B2430"/>
                          </a:solidFill>
                        </a:rPr>
                        <a:t>FastAPI</a:t>
                      </a:r>
                      <a:endParaRPr lang="en-US" sz="1100" err="1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Chat endpoint + session state, with interactive docs for demoing and testing every endpoint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430"/>
                          </a:solidFill>
                        </a:rPr>
                        <a:t>Tool calling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Native LLM tool calling, deterministic fallback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USE_REAL_TOOL_CALLING flag lets the LMS lookup run as an LLM-driven tool call or a plain node, so the system stays robust across model gateways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900"/>
          </a:p>
        </p:txBody>
      </p:sp>
      <p:sp>
        <p:nvSpPr>
          <p:cNvPr id="5" name="Text 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Design Decisions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 of what each choice cost us</a:t>
            </a:r>
            <a:endParaRPr lang="en-US" sz="13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460175"/>
              </p:ext>
            </p:extLst>
          </p:nvPr>
        </p:nvGraphicFramePr>
        <p:xfrm>
          <a:off x="445324" y="1197428"/>
          <a:ext cx="11165479" cy="5107630"/>
        </p:xfrm>
        <a:graphic>
          <a:graphicData uri="http://schemas.openxmlformats.org/drawingml/2006/table">
            <a:tbl>
              <a:tblPr/>
              <a:tblGrid>
                <a:gridCol w="3137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8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1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What we gained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What we traded away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1B2430"/>
                          </a:solidFill>
                        </a:rPr>
                        <a:t>Refinement re-enters at </a:t>
                      </a:r>
                      <a:r>
                        <a:rPr lang="en-US" sz="1050" b="1" err="1">
                          <a:solidFill>
                            <a:srgbClr val="1B2430"/>
                          </a:solidFill>
                        </a:rPr>
                        <a:t>composition_node</a:t>
                      </a:r>
                      <a:r>
                        <a:rPr lang="en-US" sz="1050" b="1">
                          <a:solidFill>
                            <a:srgbClr val="1B2430"/>
                          </a:solidFill>
                        </a:rPr>
                        <a:t>, not intake</a:t>
                      </a:r>
                      <a:endParaRPr lang="en-US" sz="105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>
                          <a:solidFill>
                            <a:srgbClr val="1B2430"/>
                          </a:solidFill>
                        </a:rPr>
                        <a:t>Prior constraints and retrieved context are never dropped on follow-up turns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>
                          <a:solidFill>
                            <a:srgbClr val="1B2430"/>
                          </a:solidFill>
                        </a:rPr>
                        <a:t>Extra state-management complexity — the graph must track and merge a running constraint list, not just the latest message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1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1B2430"/>
                          </a:solidFill>
                        </a:rPr>
                        <a:t>Deterministic </a:t>
                      </a:r>
                      <a:r>
                        <a:rPr lang="en-US" sz="1050" b="1" err="1">
                          <a:solidFill>
                            <a:srgbClr val="1B2430"/>
                          </a:solidFill>
                        </a:rPr>
                        <a:t>lms_tool_node</a:t>
                      </a:r>
                      <a:r>
                        <a:rPr lang="en-US" sz="1050" b="1">
                          <a:solidFill>
                            <a:srgbClr val="1B2430"/>
                          </a:solidFill>
                        </a:rPr>
                        <a:t> with optional native tool calling</a:t>
                      </a:r>
                      <a:endParaRPr lang="en-US" sz="105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>
                          <a:solidFill>
                            <a:srgbClr val="1B2430"/>
                          </a:solidFill>
                        </a:rPr>
                        <a:t>A robust default that works without a tool-calling-capable model, plus an upgrade path when one is available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>
                          <a:solidFill>
                            <a:srgbClr val="1B2430"/>
                          </a:solidFill>
                        </a:rPr>
                        <a:t>Two code paths to maintain and test instead of one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1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>
                          <a:solidFill>
                            <a:srgbClr val="1B2430"/>
                          </a:solidFill>
                        </a:rPr>
                        <a:t>Parallel RAG + LMS fetch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>
                          <a:solidFill>
                            <a:srgbClr val="1B2430"/>
                          </a:solidFill>
                        </a:rPr>
                        <a:t>Faster response — course content and learner history retrieved concurrently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err="1">
                          <a:solidFill>
                            <a:srgbClr val="1B2430"/>
                          </a:solidFill>
                        </a:rPr>
                        <a:t>composition_node</a:t>
                      </a:r>
                      <a:r>
                        <a:rPr lang="en-US" sz="1050">
                          <a:solidFill>
                            <a:srgbClr val="1B2430"/>
                          </a:solidFill>
                        </a:rPr>
                        <a:t> must reconcile two independent data sources rather than reasoning over one at a 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1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>
                          <a:solidFill>
                            <a:srgbClr val="1B2430"/>
                          </a:solidFill>
                        </a:rPr>
                        <a:t>Synthetic 50-course catalog &amp; 5 learner profiles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>
                          <a:solidFill>
                            <a:srgbClr val="1B2430"/>
                          </a:solidFill>
                        </a:rPr>
                        <a:t>Full control to test deep prerequisite chains (depth 4) and edge cases like completed-vs-enrolled overlap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>
                          <a:solidFill>
                            <a:srgbClr val="1B2430"/>
                          </a:solidFill>
                        </a:rPr>
                        <a:t>Doesn't prove robustness against messy, inconsistent real-world corporate LMS data</a:t>
                      </a:r>
                      <a:endParaRPr lang="en-US" sz="108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What This Demonstrates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Quality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answer relevancy and 97.2% context recall (RAGAS-style) across 12 structured course/prerequisite Q&amp;A pairs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45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Relevance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 average path overlap against 5 expert reference personas; 100% correct prerequisite ordering — 0 violations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2062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Refinement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4-turn scripted conversation validates constraint accumulation, retention, and explicit supersession across the session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6263640" y="3931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2062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583680" y="47091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automated unit tests pass in ~2 seconds, covering composition, LMS filtering, and refinement logic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Learning Path Recommender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2026-08-24T14:20:18Z</dcterms:created>
  <dcterms:modified xsi:type="dcterms:W3CDTF">2026-08-25T12:49:28Z</dcterms:modified>
</cp:coreProperties>
</file>